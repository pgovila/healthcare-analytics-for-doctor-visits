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12/29/2023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 smtClean="0">
                <a:solidFill>
                  <a:schemeClr val="tx1"/>
                </a:solidFill>
              </a:rPr>
              <a:t>EDA on 5,190 Australian Patients | IBM SkillsBuild - VOIS Edunet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 smtClean="0"/>
              <a:t>Healthcare Analytics 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t>Healthcare utilisation is unequal and poorly understood. Without data-driven analysis, hospitals and policymakers cannot predict demand, allocate resources, or identify underserved groups.</a:t>
            </a:r>
          </a:p>
          <a:p>
            <a:pPr>
              <a:lnSpc>
                <a:spcPct val="150000"/>
              </a:lnSpc>
            </a:pPr>
            <a:r>
              <a:t/>
            </a:r>
          </a:p>
          <a:p>
            <a:pPr>
              <a:lnSpc>
                <a:spcPct val="150000"/>
              </a:lnSpc>
            </a:pPr>
            <a:r>
              <a:t>Key challenges:</a:t>
            </a:r>
          </a:p>
          <a:p>
            <a:pPr>
              <a:lnSpc>
                <a:spcPct val="150000"/>
              </a:lnSpc>
            </a:pPr>
            <a:r>
              <a:t>- Why do some patients visit doctors frequently while others never go?</a:t>
            </a:r>
          </a:p>
          <a:p>
            <a:pPr>
              <a:lnSpc>
                <a:spcPct val="150000"/>
              </a:lnSpc>
            </a:pPr>
            <a:r>
              <a:t>- Which factors - illness, income, age, gender, insurance - drive visit frequency?</a:t>
            </a:r>
          </a:p>
          <a:p>
            <a:pPr>
              <a:lnSpc>
                <a:spcPct val="150000"/>
              </a:lnSpc>
            </a:pPr>
            <a:r>
              <a:t>- How does insurance type actually affect healthcare access?</a:t>
            </a:r>
          </a:p>
          <a:p>
            <a:pPr>
              <a:lnSpc>
                <a:spcPct val="150000"/>
              </a:lnSpc>
            </a:pPr>
            <a:r>
              <a:t>- Can we predict healthcare demand to improve capacity planning?</a:t>
            </a:r>
          </a:p>
          <a:p>
            <a:pPr>
              <a:lnSpc>
                <a:spcPct val="150000"/>
              </a:lnSpc>
            </a:pPr>
            <a:r>
              <a:t/>
            </a:r>
          </a:p>
          <a:p>
            <a:pPr>
              <a:lnSpc>
                <a:spcPct val="150000"/>
              </a:lnSpc>
            </a:pPr>
            <a:r>
              <a:t>This project analyses 5,190 Australian patients to uncover the statistical patterns behind doctor visit behaviour.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0000" name="Description"/>
          <p:cNvSpPr txBox="1"/>
          <p:nvPr/>
        </p:nvSpPr>
        <p:spPr>
          <a:xfrm>
            <a:off x="180000" y="1152000"/>
            <a:ext cx="8820000" cy="432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</a:rPr>
              <a:t>This project performs an in-depth Exploratory Data Analysis (EDA) on the Australian Health Survey dataset containing 5,190 patients and 13 features.</a:t>
            </a:r>
          </a:p>
          <a:p>
            <a:r>
              <a:rPr lang="en-US" sz="1800">
                <a:solidFill>
                  <a:srgbClr val="333333"/>
                </a:solidFill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</a:rPr>
              <a:t>Dataset: 5,190 rows x 13 columns - zero missing values. Features include demographics (age, gender, income), health status (illness count, reduced activity days, health score, chronic conditions), and insurance coverage (private, freepoor, freerepat).</a:t>
            </a:r>
          </a:p>
          <a:p>
            <a:r>
              <a:rPr lang="en-US" sz="1800">
                <a:solidFill>
                  <a:srgbClr val="333333"/>
                </a:solidFill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</a:rPr>
              <a:t>Objective: Identify the strongest predictors of doctor visit frequency, uncover demographic disparities in healthcare utilisation, understand how insurance type influences access to care, and build a foundation for predictive modelling using Poisson or Negative Binomial regression.</a:t>
            </a:r>
          </a:p>
          <a:p>
            <a:r>
              <a:rPr lang="en-US" sz="1800">
                <a:solidFill>
                  <a:srgbClr val="333333"/>
                </a:solidFill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</a:rPr>
              <a:t>Methodology: Data loading and inspection, missing value audit, binary encoding, feature engineering (age groups, income tiers, chronic severity score), outlier analysis, univariate and bivariate EDA with visualisations.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t>1. Healthcare Policymakers &amp; Government Agencies</a:t>
            </a:r>
          </a:p>
          <a:p>
            <a:pPr algn="just">
              <a:lnSpc>
                <a:spcPct val="150000"/>
              </a:lnSpc>
            </a:pPr>
            <a:r>
              <a:t>Use findings to design targeted interventions, allocate budgets, and address underserved populations (e.g., freepoor group outreach).</a:t>
            </a:r>
          </a:p>
          <a:p>
            <a:pPr algn="just">
              <a:lnSpc>
                <a:spcPct val="150000"/>
              </a:lnSpc>
            </a:pPr>
            <a:r>
              <a:t/>
            </a:r>
          </a:p>
          <a:p>
            <a:pPr algn="just">
              <a:lnSpc>
                <a:spcPct val="150000"/>
              </a:lnSpc>
            </a:pPr>
            <a:r>
              <a:t>2. Hospital Administrators &amp; Health Systems Planners</a:t>
            </a:r>
          </a:p>
          <a:p>
            <a:pPr algn="just">
              <a:lnSpc>
                <a:spcPct val="150000"/>
              </a:lnSpc>
            </a:pPr>
            <a:r>
              <a:t>Predict patient demand by age and illness burden; plan staffing and capacity proactively for high-utilisation groups.</a:t>
            </a:r>
          </a:p>
          <a:p>
            <a:pPr algn="just">
              <a:lnSpc>
                <a:spcPct val="150000"/>
              </a:lnSpc>
            </a:pPr>
            <a:r>
              <a:t/>
            </a:r>
          </a:p>
          <a:p>
            <a:pPr algn="just">
              <a:lnSpc>
                <a:spcPct val="150000"/>
              </a:lnSpc>
            </a:pPr>
            <a:r>
              <a:t>3. Public Health Researchers &amp; Epidemiologists</a:t>
            </a:r>
          </a:p>
          <a:p>
            <a:pPr algn="just">
              <a:lnSpc>
                <a:spcPct val="150000"/>
              </a:lnSpc>
            </a:pPr>
            <a:r>
              <a:t>Use the EDA findings as a baseline for modelling healthcare demand using Poisson or Negative Binomial regression.</a:t>
            </a:r>
          </a:p>
          <a:p>
            <a:pPr algn="just">
              <a:lnSpc>
                <a:spcPct val="150000"/>
              </a:lnSpc>
            </a:pPr>
            <a:r>
              <a:t/>
            </a:r>
          </a:p>
          <a:p>
            <a:pPr algn="just">
              <a:lnSpc>
                <a:spcPct val="150000"/>
              </a:lnSpc>
            </a:pPr>
            <a:r>
              <a:t>4. Insurance Companies &amp; Actuaries</a:t>
            </a:r>
          </a:p>
          <a:p>
            <a:pPr algn="just">
              <a:lnSpc>
                <a:spcPct val="150000"/>
              </a:lnSpc>
            </a:pPr>
            <a:r>
              <a:t>Understand the relationship between coverage type and utilisation to price products and identify high-risk segments.</a:t>
            </a:r>
          </a:p>
          <a:p>
            <a:pPr algn="just">
              <a:lnSpc>
                <a:spcPct val="150000"/>
              </a:lnSpc>
            </a:pPr>
            <a:r>
              <a:t/>
            </a:r>
          </a:p>
          <a:p>
            <a:pPr algn="just">
              <a:lnSpc>
                <a:spcPct val="150000"/>
              </a:lnSpc>
            </a:pPr>
            <a:r>
              <a:t>5. Data Scientists &amp; Analytics Students</a:t>
            </a:r>
          </a:p>
          <a:p>
            <a:pPr algn="just">
              <a:lnSpc>
                <a:spcPct val="150000"/>
              </a:lnSpc>
            </a:pPr>
            <a:r>
              <a:t>A clean, well-documented dataset and analysis pipeline to learn EDA, feature engineering, and health econometrics.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t>Python 3.x</a:t>
            </a:r>
          </a:p>
          <a:p>
            <a:pPr lvl="1">
              <a:lnSpc>
                <a:spcPct val="150000"/>
              </a:lnSpc>
            </a:pPr>
            <a:r>
              <a:t>Core programming language for data analysis and visualisation.</a:t>
            </a:r>
          </a:p>
          <a:p>
            <a:pPr lvl="1">
              <a:lnSpc>
                <a:spcPct val="150000"/>
              </a:lnSpc>
            </a:pPr>
            <a:r>
              <a:t/>
            </a:r>
          </a:p>
          <a:p>
            <a:pPr lvl="1">
              <a:lnSpc>
                <a:spcPct val="150000"/>
              </a:lnSpc>
            </a:pPr>
            <a:r>
              <a:t>Pandas</a:t>
            </a:r>
          </a:p>
          <a:p>
            <a:pPr lvl="1">
              <a:lnSpc>
                <a:spcPct val="150000"/>
              </a:lnSpc>
            </a:pPr>
            <a:r>
              <a:t>Data loading, cleaning, transformation, feature engineering, and grouped aggregations.</a:t>
            </a:r>
          </a:p>
          <a:p>
            <a:pPr lvl="1">
              <a:lnSpc>
                <a:spcPct val="150000"/>
              </a:lnSpc>
            </a:pPr>
            <a:r>
              <a:t/>
            </a:r>
          </a:p>
          <a:p>
            <a:pPr lvl="1">
              <a:lnSpc>
                <a:spcPct val="150000"/>
              </a:lnSpc>
            </a:pPr>
            <a:r>
              <a:t>NumPy</a:t>
            </a:r>
          </a:p>
          <a:p>
            <a:pPr lvl="1">
              <a:lnSpc>
                <a:spcPct val="150000"/>
              </a:lnSpc>
            </a:pPr>
            <a:r>
              <a:t>Numerical operations and statistical calculations on array data.</a:t>
            </a:r>
          </a:p>
          <a:p>
            <a:pPr lvl="1">
              <a:lnSpc>
                <a:spcPct val="150000"/>
              </a:lnSpc>
            </a:pPr>
            <a:r>
              <a:t/>
            </a:r>
          </a:p>
          <a:p>
            <a:pPr lvl="1">
              <a:lnSpc>
                <a:spcPct val="150000"/>
              </a:lnSpc>
            </a:pPr>
            <a:r>
              <a:t>Matplotlib &amp; Seaborn</a:t>
            </a:r>
          </a:p>
          <a:p>
            <a:pPr lvl="1">
              <a:lnSpc>
                <a:spcPct val="150000"/>
              </a:lnSpc>
            </a:pPr>
            <a:r>
              <a:t>Data visualisation - bar charts, histograms, scatter plots, heatmaps, and distribution plots.</a:t>
            </a:r>
          </a:p>
          <a:p>
            <a:pPr lvl="1">
              <a:lnSpc>
                <a:spcPct val="150000"/>
              </a:lnSpc>
            </a:pPr>
            <a:r>
              <a:t/>
            </a:r>
          </a:p>
          <a:p>
            <a:pPr lvl="1">
              <a:lnSpc>
                <a:spcPct val="150000"/>
              </a:lnSpc>
            </a:pPr>
            <a:r>
              <a:t>Jupyter Notebook</a:t>
            </a:r>
          </a:p>
          <a:p>
            <a:pPr lvl="1">
              <a:lnSpc>
                <a:spcPct val="150000"/>
              </a:lnSpc>
            </a:pPr>
            <a:r>
              <a:t>Interactive analysis environment for iterative EDA with inline charts and narrative.</a:t>
            </a:r>
          </a:p>
          <a:p>
            <a:pPr lvl="1">
              <a:lnSpc>
                <a:spcPct val="150000"/>
              </a:lnSpc>
            </a:pPr>
            <a:r>
              <a:t/>
            </a:r>
          </a:p>
          <a:p>
            <a:pPr lvl="1">
              <a:lnSpc>
                <a:spcPct val="150000"/>
              </a:lnSpc>
            </a:pPr>
            <a:r>
              <a:t>HTML5 + SVG + CSS3 + JavaScript</a:t>
            </a:r>
          </a:p>
          <a:p>
            <a:pPr lvl="1">
              <a:lnSpc>
                <a:spcPct val="150000"/>
              </a:lnSpc>
            </a:pPr>
            <a:r>
              <a:t>Interactive portfolio dashboard built as a standalone web page with embedded SVG visualisations.</a:t>
            </a:r>
          </a:p>
          <a:p>
            <a:pPr lvl="1">
              <a:lnSpc>
                <a:spcPct val="150000"/>
              </a:lnSpc>
            </a:pPr>
            <a:r>
              <a:t/>
            </a:r>
          </a:p>
          <a:p>
            <a:pPr lvl="1">
              <a:lnSpc>
                <a:spcPct val="150000"/>
              </a:lnSpc>
            </a:pPr>
            <a:r>
              <a:t>Dataset Source</a:t>
            </a:r>
          </a:p>
          <a:p>
            <a:pPr lvl="1">
              <a:lnSpc>
                <a:spcPct val="150000"/>
              </a:lnSpc>
            </a:pPr>
            <a:r>
              <a:t>Australian Health Survey (AHS) - a benchmark dataset in health econometrics with 5,190 patients and 13 features.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16="http://schemas.microsoft.com/office/drawing/2014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KEY FINDINGS</a:t>
            </a:r>
          </a:p>
          <a:p>
            <a:r>
              <a:t>1. 79.8% of patients never visited a doctor (zero-inflation)</a:t>
            </a:r>
          </a:p>
          <a:p>
            <a:r>
              <a:t>2. Illness count is the #1 predictor of visit frequency</a:t>
            </a:r>
          </a:p>
          <a:p>
            <a:r>
              <a:t>3. Reduced activity days (8-14): 1.64 avg visits - 9x more than 0 days</a:t>
            </a:r>
          </a:p>
          <a:p>
            <a:r>
              <a:t>4. Female patients visit 53% more often than males</a:t>
            </a:r>
          </a:p>
          <a:p>
            <a:r>
              <a:t>5. Seniors (64+) have the highest visit rate (0.483)</a:t>
            </a:r>
          </a:p>
          <a:p>
            <a:r>
              <a:t>6. Low-income patients visit 77% more than high-income (0.398 vs 0.225)</a:t>
            </a:r>
          </a:p>
          <a:p>
            <a:r>
              <a:t>7. Veterans (freerepat): highest utilisation at 0.467 avg visits</a:t>
            </a:r>
          </a:p>
          <a:p>
            <a:r>
              <a:t>8. Freepoor (most vulnerable): lowest utilisation - access barriers</a:t>
            </a:r>
          </a:p>
          <a:p>
            <a:r>
              <a:t>9. Limiting chronic conditions double visits (130% increase)</a:t>
            </a:r>
          </a:p>
          <a:p>
            <a:r>
              <a:t>10. Private insurance holders visit slightly less (healthy subscriber effect)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RECOMMENDATIONS</a:t>
            </a:r>
          </a:p>
          <a:p>
            <a:r>
              <a:t>1. Freepoor outreach - deploy care navigators for underserved group</a:t>
            </a:r>
          </a:p>
          <a:p>
            <a:r>
              <a:t>2. Senior capacity planning - predictable demand growth with age</a:t>
            </a:r>
          </a:p>
          <a:p>
            <a:r>
              <a:t>3. Composite illness score (illness + reduced) for clinical triage</a:t>
            </a:r>
          </a:p>
          <a:p>
            <a:r>
              <a:t>4. Gender-aware programs - improve male healthcare engagement</a:t>
            </a:r>
          </a:p>
          <a:p>
            <a:r>
              <a:t>5. Income-linked access policy - double burden for low earners</a:t>
            </a:r>
          </a:p>
          <a:p>
            <a:r>
              <a:t>6. Use Poisson / Negative Binomial regression for count modelling</a:t>
            </a:r>
          </a:p>
          <a:p>
            <a:r>
              <a:t>7. Chronic condition monitoring - lchronic patients are high-utilizers</a:t>
            </a:r>
          </a:p>
          <a:p>
            <a:r>
              <a:t/>
            </a:r>
          </a:p>
          <a:p>
            <a:r>
              <a:t>Dashboard</a:t>
            </a:r>
          </a:p>
          <a:p>
            <a:r>
              <a:t>Full interactive EDA dashboard: open healthcare_dashboard.html in browser to view all visualisations (visit frequency, illness analysis, demographics, insurance, and summary)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[Open healthcare_dashboard.html in a browser to view the interactive dashboard screenshots. Screenshots should be added here for: (1) Overview page KPIs, (2) Visit Frequency Distribution chart, (3) Illness vs Visits chart, (4) Insurance utilisation analysis, (5) Summary predictor ranking chart.]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thm15="http://schemas.microsoft.com/office/thememl/2012/main"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73</cp:revision>
  <dcterms:created xsi:type="dcterms:W3CDTF">2021-07-11T13:13:15Z</dcterms:created>
  <dcterms:modified xsi:type="dcterms:W3CDTF">2023-12-29T05:01:43Z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ontentTypeId">
    <vt:lpwstr>0x01010079F111ED35F8CC479449609E8A0923A6</vt:lpwstr>
  </op:property>
  <op:property fmtid="{D5CDD505-2E9C-101B-9397-08002B2CF9AE}" pid="3" name="OfficeCLI.Version">
    <vt:lpwstr>1.0.144</vt:lpwstr>
  </op:property>
  <op:property fmtid="{D5CDD505-2E9C-101B-9397-08002B2CF9AE}" pid="4" name="OfficeCLI.LastModified">
    <vt:lpwstr>2026-10-22T12:58:56Z</vt:lpwstr>
  </op:property>
</op:Properties>
</file>